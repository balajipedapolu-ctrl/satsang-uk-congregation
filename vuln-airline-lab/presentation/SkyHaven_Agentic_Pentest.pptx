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A2540"/>
                </a:solidFill>
                <a:latin typeface="Cambria"/>
              </a:defRPr>
            </a:pPr>
            <a:r>
              <a:rPr sz="1300" b="0" i="0" u="none" strike="noStrike">
                <a:solidFill>
                  <a:srgbClr val="0A2540"/>
                </a:solidFill>
                <a:latin typeface="Cambria"/>
              </a:rPr>
              <a:t>Findings by severity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Severity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64545"/>
              </a:solidFill>
              <a:effectLst/>
            </c:spPr>
          </c:dPt>
          <c:dPt>
            <c:idx val="1"/>
            <c:bubble3D val="0"/>
            <c:spPr>
              <a:solidFill>
                <a:srgbClr val="E8873B"/>
              </a:solidFill>
              <a:effectLst/>
            </c:spPr>
          </c:dPt>
          <c:dPt>
            <c:idx val="2"/>
            <c:bubble3D val="0"/>
            <c:spPr>
              <a:solidFill>
                <a:srgbClr val="E6B34D"/>
              </a:solidFill>
              <a:effectLst/>
            </c:spPr>
          </c:dPt>
          <c:dPt>
            <c:idx val="3"/>
            <c:bubble3D val="0"/>
            <c:spPr>
              <a:solidFill>
                <a:srgbClr val="4C9AD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</c:v>
                </c:pt>
                <c:pt idx="1">
                  <c:v>5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7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Frame: this is a demonstration of agentic AI penetration testing — Claude driving Burp Suite through the Model Context Protocol against our intentionally vulnerable SkyHaven Airways lab. Stress it's authorized, isolated (localhost), and repeatable.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 left to right: Claude reasons and plans; MCP is the standardized, permissioned bridge; Burp is the industry-standard proxy that actually sends traffic; SkyHaven is our target. Then the loop — recon, plan, exploit, verify, report — runs autonomously and iterates until the plan is exhausted.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'wow' slide. Read prompt 01 aloud, then prompt 02. Emphasize: no scripting, no manual clicking — plain-English intent, and the agent chains findings (e.g., forges the weak session cookie then walks into /admin). The report is literally one more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killer slide for technical buyers. Automated scanners are pattern-matchers — great at known signatures, blind to logic. The four things they can't do: business-logic flaws, multi-step chaining, access-control/IDOR reasoning, and triage. Claude does all four and uses Burp as its hands. Message: not a replacement for scanners — a force multiplier that closes the logic gap.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value: 13 findings across 5 OWASP categories, 3 critical including full RCE. Doughnut shows severity mix. The point for the customer: this is not a toy — it's a force multiplier that turns days of manual testing into a repeatable, evidence-backed run, with a human reviewing the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920240"/>
            <a:ext cx="5852160" cy="5852160"/>
          </a:xfrm>
          <a:prstGeom prst="oval">
            <a:avLst/>
          </a:prstGeom>
          <a:solidFill>
            <a:srgbClr val="E6B34D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784080" y="-822960"/>
            <a:ext cx="3566160" cy="3566160"/>
          </a:xfrm>
          <a:prstGeom prst="oval">
            <a:avLst/>
          </a:prstGeom>
          <a:solidFill>
            <a:srgbClr val="E6B34D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  </a:t>
            </a:r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SKYHAVEN AIRWAYS</a:t>
            </a:r>
            <a:pPr indent="0" marL="0">
              <a:buNone/>
            </a:pPr>
            <a:r>
              <a:rPr lang="en-US" sz="1300" spc="200" kern="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SECURITY ASSESSMENT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788920" cy="402336"/>
          </a:xfrm>
          <a:prstGeom prst="roundRect">
            <a:avLst>
              <a:gd name="adj" fmla="val 50000"/>
            </a:avLst>
          </a:prstGeom>
          <a:solidFill>
            <a:srgbClr val="3A1414"/>
          </a:solidFill>
          <a:ln w="12700">
            <a:solidFill>
              <a:srgbClr val="6B2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17320"/>
            <a:ext cx="2788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AUTHORIZED LAB TEST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8778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AI</a:t>
            </a:r>
            <a:endParaRPr lang="en-US" sz="5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Penetration Testing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40080" y="4069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security testing with </a:t>
            </a:r>
            <a:pPr indent="0" marL="0">
              <a:buNone/>
            </a:pPr>
            <a:r>
              <a:rPr lang="en-US" sz="2100" b="1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pPr indent="0" marL="0">
              <a:buNone/>
            </a:pPr>
            <a:r>
              <a:rPr lang="en-US" sz="210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indent="0" marL="0">
              <a:buNone/>
            </a:pPr>
            <a:r>
              <a:rPr lang="en-US" sz="2100" b="1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 MCP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BD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prompt drives reconnaissance, exploitation and reporting — a live demo against the SkyHaven Airways platform.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58368" y="5989320"/>
            <a:ext cx="10881360" cy="0"/>
          </a:xfrm>
          <a:prstGeom prst="line">
            <a:avLst/>
          </a:prstGeom>
          <a:noFill/>
          <a:ln w="12700">
            <a:solidFill>
              <a:srgbClr val="1E3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6126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Balaji Pedapolu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61264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SkyHaven Airways · IATA SH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Agentic Pentesting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acts as the tester; the Model Context Protocol (MCP) gives it hands inside Burp Suite to drive real traffic against the target.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221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agent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planner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108960" y="2286000"/>
            <a:ext cx="4206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11296" y="196596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E6B34D"/>
          </a:solidFill>
          <a:ln/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11296" y="2221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619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511296" y="269748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protocol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0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(secure bridge)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80176" y="2286000"/>
            <a:ext cx="4206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82512" y="196596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82512" y="2221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Suite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382512" y="269748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· Repeater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· Intruder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851392" y="2286000"/>
            <a:ext cx="4206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89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53728" y="1965960"/>
            <a:ext cx="2487168" cy="1417320"/>
          </a:xfrm>
          <a:prstGeom prst="roundRect">
            <a:avLst>
              <a:gd name="adj" fmla="val 6452"/>
            </a:avLst>
          </a:prstGeom>
          <a:solidFill>
            <a:srgbClr val="12324F"/>
          </a:solidFill>
          <a:ln/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53728" y="2221992"/>
            <a:ext cx="24871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SkyHaven App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9253728" y="2697480"/>
            <a:ext cx="24871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website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(localhost:8000)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autonomous loop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41248" y="4562856"/>
            <a:ext cx="566928" cy="566928"/>
          </a:xfrm>
          <a:prstGeom prst="oval">
            <a:avLst/>
          </a:prstGeom>
          <a:solidFill>
            <a:srgbClr val="0A2540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562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B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22960" y="551383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endpoints &amp; params from proxy history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26080" y="434340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27248" y="4562856"/>
            <a:ext cx="566928" cy="566928"/>
          </a:xfrm>
          <a:prstGeom prst="oval">
            <a:avLst/>
          </a:prstGeom>
          <a:solidFill>
            <a:srgbClr val="0A2540"/>
          </a:solidFill>
          <a:ln/>
        </p:spPr>
      </p:sp>
      <p:sp>
        <p:nvSpPr>
          <p:cNvPr id="27" name="Text 25"/>
          <p:cNvSpPr/>
          <p:nvPr/>
        </p:nvSpPr>
        <p:spPr>
          <a:xfrm>
            <a:off x="3127248" y="4562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B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108960" y="52120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3108960" y="551383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likely vulns per OWASP Top 10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12080" y="434340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13248" y="4562856"/>
            <a:ext cx="566928" cy="566928"/>
          </a:xfrm>
          <a:prstGeom prst="oval">
            <a:avLst/>
          </a:prstGeom>
          <a:solidFill>
            <a:srgbClr val="0A2540"/>
          </a:solidFill>
          <a:ln/>
        </p:spPr>
      </p:sp>
      <p:sp>
        <p:nvSpPr>
          <p:cNvPr id="32" name="Text 30"/>
          <p:cNvSpPr/>
          <p:nvPr/>
        </p:nvSpPr>
        <p:spPr>
          <a:xfrm>
            <a:off x="5413248" y="4562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B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94960" y="52120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394960" y="551383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payloads, fire via Repeater/Intruder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498080" y="434340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99248" y="4562856"/>
            <a:ext cx="566928" cy="566928"/>
          </a:xfrm>
          <a:prstGeom prst="oval">
            <a:avLst/>
          </a:prstGeom>
          <a:solidFill>
            <a:srgbClr val="0A2540"/>
          </a:solidFill>
          <a:ln/>
        </p:spPr>
      </p:sp>
      <p:sp>
        <p:nvSpPr>
          <p:cNvPr id="37" name="Text 35"/>
          <p:cNvSpPr/>
          <p:nvPr/>
        </p:nvSpPr>
        <p:spPr>
          <a:xfrm>
            <a:off x="7699248" y="4562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B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680960" y="52120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680960" y="551383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responses, confirm, chain findings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9784080" y="4343400"/>
            <a:ext cx="212140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985248" y="4562856"/>
            <a:ext cx="566928" cy="566928"/>
          </a:xfrm>
          <a:prstGeom prst="oval">
            <a:avLst/>
          </a:prstGeom>
          <a:solidFill>
            <a:srgbClr val="0A2540"/>
          </a:solidFill>
          <a:ln/>
        </p:spPr>
      </p:sp>
      <p:sp>
        <p:nvSpPr>
          <p:cNvPr id="42" name="Text 40"/>
          <p:cNvSpPr/>
          <p:nvPr/>
        </p:nvSpPr>
        <p:spPr>
          <a:xfrm>
            <a:off x="9985248" y="45628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B3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9966960" y="5212080"/>
            <a:ext cx="175564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966960" y="5513832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CVSS &amp; fixes, exported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Prompt. A Full Pentest.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direct the engagement in plain English. Claude turns intent into Burp actions and works the target autonomously.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06192E"/>
          </a:solidFill>
          <a:ln w="12700">
            <a:solidFill>
              <a:srgbClr val="1E3F5E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12848"/>
            <a:ext cx="128016" cy="128016"/>
          </a:xfrm>
          <a:prstGeom prst="oval">
            <a:avLst/>
          </a:prstGeom>
          <a:solidFill>
            <a:srgbClr val="D64545"/>
          </a:solidFill>
          <a:ln/>
        </p:spPr>
      </p:sp>
      <p:sp>
        <p:nvSpPr>
          <p:cNvPr id="6" name="Shape 4"/>
          <p:cNvSpPr/>
          <p:nvPr/>
        </p:nvSpPr>
        <p:spPr>
          <a:xfrm>
            <a:off x="1078992" y="2212848"/>
            <a:ext cx="128016" cy="128016"/>
          </a:xfrm>
          <a:prstGeom prst="oval">
            <a:avLst/>
          </a:prstGeom>
          <a:solidFill>
            <a:srgbClr val="E6B34D"/>
          </a:solidFill>
          <a:ln/>
        </p:spPr>
      </p:sp>
      <p:sp>
        <p:nvSpPr>
          <p:cNvPr id="7" name="Shape 5"/>
          <p:cNvSpPr/>
          <p:nvPr/>
        </p:nvSpPr>
        <p:spPr>
          <a:xfrm>
            <a:off x="1261872" y="2212848"/>
            <a:ext cx="128016" cy="128016"/>
          </a:xfrm>
          <a:prstGeom prst="oval">
            <a:avLst/>
          </a:prstGeom>
          <a:solidFill>
            <a:srgbClr val="3FB57A"/>
          </a:solidFill>
          <a:ln/>
        </p:spPr>
      </p:sp>
      <p:sp>
        <p:nvSpPr>
          <p:cNvPr id="8" name="Text 6"/>
          <p:cNvSpPr/>
          <p:nvPr/>
        </p:nvSpPr>
        <p:spPr>
          <a:xfrm>
            <a:off x="1554480" y="2148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RECON &amp; PLAN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6112" y="2532888"/>
            <a:ext cx="4882896" cy="0"/>
          </a:xfrm>
          <a:prstGeom prst="line">
            <a:avLst/>
          </a:prstGeom>
          <a:noFill/>
          <a:ln w="12700">
            <a:solidFill>
              <a:srgbClr val="1E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624328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B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 are an authorized pentester. Using the Burp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tools, crawl http://localhost:8000, enumerate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 endpoint and parameter from proxy history,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map the attack surface. For each parameter,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hypothesise the likely vuln class. Return a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prioritised attack plan — do not exploit yet.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19672" y="196596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06192E"/>
          </a:solidFill>
          <a:ln w="12700">
            <a:solidFill>
              <a:srgbClr val="1E3F5E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775704" y="2212848"/>
            <a:ext cx="128016" cy="128016"/>
          </a:xfrm>
          <a:prstGeom prst="oval">
            <a:avLst/>
          </a:prstGeom>
          <a:solidFill>
            <a:srgbClr val="D64545"/>
          </a:solidFill>
          <a:ln/>
        </p:spPr>
      </p:sp>
      <p:sp>
        <p:nvSpPr>
          <p:cNvPr id="13" name="Shape 11"/>
          <p:cNvSpPr/>
          <p:nvPr/>
        </p:nvSpPr>
        <p:spPr>
          <a:xfrm>
            <a:off x="6958584" y="2212848"/>
            <a:ext cx="128016" cy="128016"/>
          </a:xfrm>
          <a:prstGeom prst="oval">
            <a:avLst/>
          </a:prstGeom>
          <a:solidFill>
            <a:srgbClr val="E6B34D"/>
          </a:solidFill>
          <a:ln/>
        </p:spPr>
      </p:sp>
      <p:sp>
        <p:nvSpPr>
          <p:cNvPr id="14" name="Shape 12"/>
          <p:cNvSpPr/>
          <p:nvPr/>
        </p:nvSpPr>
        <p:spPr>
          <a:xfrm>
            <a:off x="7141464" y="2212848"/>
            <a:ext cx="128016" cy="128016"/>
          </a:xfrm>
          <a:prstGeom prst="oval">
            <a:avLst/>
          </a:prstGeom>
          <a:solidFill>
            <a:srgbClr val="3FB57A"/>
          </a:solidFill>
          <a:ln/>
        </p:spPr>
      </p:sp>
      <p:sp>
        <p:nvSpPr>
          <p:cNvPr id="15" name="Text 13"/>
          <p:cNvSpPr/>
          <p:nvPr/>
        </p:nvSpPr>
        <p:spPr>
          <a:xfrm>
            <a:off x="7434072" y="21488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AUTONOMOUS EXPLOIT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75704" y="2532888"/>
            <a:ext cx="4882896" cy="0"/>
          </a:xfrm>
          <a:prstGeom prst="line">
            <a:avLst/>
          </a:prstGeom>
          <a:noFill/>
          <a:ln w="12700">
            <a:solidFill>
              <a:srgbClr val="1E3F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93992" y="2624328"/>
            <a:ext cx="4892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E6B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</a:t>
            </a:r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 the plan autonomously. For each candidate: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craft a payload, send it via Burp Repeater through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MCP, analyse the response, confirm or reject.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 findings (forge the session cookie, then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reach /admin). Log every confirmed issue with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E7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request/response evidence and a CVSS score.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0080" y="507492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2324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230368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435608" y="53218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drives real traffic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35608" y="56327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Repeater, Intruder &amp; Scanner via MCP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80560" y="5230368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047488" y="53218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Iterates on its own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47488" y="56327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each response, adapts the next payload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92440" y="5230368"/>
            <a:ext cx="548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659368" y="5321808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on demand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659368" y="563270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1050" dirty="0">
                <a:solidFill>
                  <a:srgbClr val="A9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“Compile findings into a report” → done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Automated Scanners Stop, Claude Keeps Going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972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DAST scanner (e.g. Burp's automated Scanner) fires known signatures. Claude reasons about context and business logic — then drives Burp's Proxy, Repeater and Intruder to prove it.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0" y="17830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8496A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0" y="178308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8183880" y="1783080"/>
            <a:ext cx="3364992" cy="457200"/>
          </a:xfrm>
          <a:prstGeom prst="roundRect">
            <a:avLst>
              <a:gd name="adj" fmla="val 12000"/>
            </a:avLst>
          </a:prstGeom>
          <a:solidFill>
            <a:srgbClr val="0A2540"/>
          </a:solidFill>
          <a:ln/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83880" y="1783080"/>
            <a:ext cx="33649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</a:t>
            </a:r>
            <a:pPr algn="ctr" indent="0" marL="0">
              <a:buNone/>
            </a:pPr>
            <a:r>
              <a:rPr lang="en-US" sz="12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AGENTIC + BURP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368296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Business-logic flaws
</a:t>
            </a:r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PNR + last-name bypass, price tampering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2368296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36592" y="2496312"/>
            <a:ext cx="292608" cy="292608"/>
          </a:xfrm>
          <a:prstGeom prst="oval">
            <a:avLst/>
          </a:prstGeom>
          <a:solidFill>
            <a:srgbClr val="D64545"/>
          </a:solidFill>
          <a:ln/>
        </p:spPr>
      </p:sp>
      <p:sp>
        <p:nvSpPr>
          <p:cNvPr id="11" name="Text 9"/>
          <p:cNvSpPr/>
          <p:nvPr/>
        </p:nvSpPr>
        <p:spPr>
          <a:xfrm>
            <a:off x="4736592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38928" y="236829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intent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83880" y="2368296"/>
            <a:ext cx="3364992" cy="54864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48472" y="2496312"/>
            <a:ext cx="292608" cy="292608"/>
          </a:xfrm>
          <a:prstGeom prst="oval">
            <a:avLst/>
          </a:prstGeom>
          <a:solidFill>
            <a:srgbClr val="1A8A5A"/>
          </a:solidFill>
          <a:ln/>
        </p:spPr>
      </p:sp>
      <p:sp>
        <p:nvSpPr>
          <p:cNvPr id="15" name="Text 13"/>
          <p:cNvSpPr/>
          <p:nvPr/>
        </p:nvSpPr>
        <p:spPr>
          <a:xfrm>
            <a:off x="8348472" y="24963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50808" y="2368296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about intent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2980944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exploit chains
</a:t>
            </a:r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cookie → /admin → RCE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2980944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36592" y="3108960"/>
            <a:ext cx="292608" cy="292608"/>
          </a:xfrm>
          <a:prstGeom prst="oval">
            <a:avLst/>
          </a:prstGeom>
          <a:solidFill>
            <a:srgbClr val="D64545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38928" y="2980944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inputs in isolation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2980944"/>
            <a:ext cx="3364992" cy="54864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48472" y="3108960"/>
            <a:ext cx="292608" cy="292608"/>
          </a:xfrm>
          <a:prstGeom prst="oval">
            <a:avLst/>
          </a:prstGeom>
          <a:solidFill>
            <a:srgbClr val="1A8A5A"/>
          </a:solidFill>
          <a:ln/>
        </p:spPr>
      </p:sp>
      <p:sp>
        <p:nvSpPr>
          <p:cNvPr id="24" name="Text 22"/>
          <p:cNvSpPr/>
          <p:nvPr/>
        </p:nvSpPr>
        <p:spPr>
          <a:xfrm>
            <a:off x="8348472" y="31089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50808" y="2980944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findings end-to-end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0080" y="3593592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access control / IDOR
</a:t>
            </a:r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which booking?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3593592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36592" y="3721608"/>
            <a:ext cx="292608" cy="292608"/>
          </a:xfrm>
          <a:prstGeom prst="oval">
            <a:avLst/>
          </a:prstGeom>
          <a:solidFill>
            <a:srgbClr val="D64545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38928" y="3593592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infer ownership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183880" y="3593592"/>
            <a:ext cx="3364992" cy="54864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48472" y="3721608"/>
            <a:ext cx="292608" cy="292608"/>
          </a:xfrm>
          <a:prstGeom prst="oval">
            <a:avLst/>
          </a:prstGeom>
          <a:solidFill>
            <a:srgbClr val="1A8A5A"/>
          </a:solidFill>
          <a:ln/>
        </p:spPr>
      </p:sp>
      <p:sp>
        <p:nvSpPr>
          <p:cNvPr id="33" name="Text 31"/>
          <p:cNvSpPr/>
          <p:nvPr/>
        </p:nvSpPr>
        <p:spPr>
          <a:xfrm>
            <a:off x="8348472" y="37216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750808" y="3593592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object ownership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40080" y="420624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triage
</a:t>
            </a:r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really exploitable?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0" y="4206240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36592" y="4334256"/>
            <a:ext cx="292608" cy="292608"/>
          </a:xfrm>
          <a:prstGeom prst="oval">
            <a:avLst/>
          </a:prstGeom>
          <a:solidFill>
            <a:srgbClr val="D64545"/>
          </a:solidFill>
          <a:ln/>
        </p:spPr>
      </p:sp>
      <p:sp>
        <p:nvSpPr>
          <p:cNvPr id="38" name="Text 36"/>
          <p:cNvSpPr/>
          <p:nvPr/>
        </p:nvSpPr>
        <p:spPr>
          <a:xfrm>
            <a:off x="4736592" y="4334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38928" y="4206240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— needs a human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183880" y="4206240"/>
            <a:ext cx="3364992" cy="54864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48472" y="4334256"/>
            <a:ext cx="292608" cy="292608"/>
          </a:xfrm>
          <a:prstGeom prst="oval">
            <a:avLst/>
          </a:prstGeom>
          <a:solidFill>
            <a:srgbClr val="1A8A5A"/>
          </a:solidFill>
          <a:ln/>
        </p:spPr>
      </p:sp>
      <p:sp>
        <p:nvSpPr>
          <p:cNvPr id="42" name="Text 40"/>
          <p:cNvSpPr/>
          <p:nvPr/>
        </p:nvSpPr>
        <p:spPr>
          <a:xfrm>
            <a:off x="8348472" y="43342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750808" y="4206240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with real evidence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40080" y="481888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/ stateful auth
</a:t>
            </a:r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login &amp; sessions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0" y="4818888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36592" y="4946904"/>
            <a:ext cx="292608" cy="292608"/>
          </a:xfrm>
          <a:prstGeom prst="oval">
            <a:avLst/>
          </a:prstGeom>
          <a:solidFill>
            <a:srgbClr val="D64545"/>
          </a:solidFill>
          <a:ln/>
        </p:spPr>
      </p:sp>
      <p:sp>
        <p:nvSpPr>
          <p:cNvPr id="47" name="Text 45"/>
          <p:cNvSpPr/>
          <p:nvPr/>
        </p:nvSpPr>
        <p:spPr>
          <a:xfrm>
            <a:off x="4736592" y="4946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138928" y="4818888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on unusual flows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183880" y="4818888"/>
            <a:ext cx="3364992" cy="54864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48472" y="4946904"/>
            <a:ext cx="292608" cy="292608"/>
          </a:xfrm>
          <a:prstGeom prst="oval">
            <a:avLst/>
          </a:prstGeom>
          <a:solidFill>
            <a:srgbClr val="1A8A5A"/>
          </a:solidFill>
          <a:ln/>
        </p:spPr>
      </p:sp>
      <p:sp>
        <p:nvSpPr>
          <p:cNvPr id="51" name="Text 49"/>
          <p:cNvSpPr/>
          <p:nvPr/>
        </p:nvSpPr>
        <p:spPr>
          <a:xfrm>
            <a:off x="8348472" y="49469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750808" y="4818888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flow like a user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40080" y="5431536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 &amp; reporting
</a:t>
            </a:r>
            <a:pPr indent="0" marL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developer-ready fixes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572000" y="5431536"/>
            <a:ext cx="3429000" cy="548640"/>
          </a:xfrm>
          <a:prstGeom prst="roundRect">
            <a:avLst>
              <a:gd name="adj" fmla="val 10000"/>
            </a:avLst>
          </a:prstGeom>
          <a:solidFill>
            <a:srgbClr val="EEF1F4"/>
          </a:solidFill>
          <a:ln w="12700">
            <a:solidFill>
              <a:srgbClr val="E3E9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36592" y="5559552"/>
            <a:ext cx="292608" cy="292608"/>
          </a:xfrm>
          <a:prstGeom prst="oval">
            <a:avLst/>
          </a:prstGeom>
          <a:solidFill>
            <a:srgbClr val="D64545"/>
          </a:solidFill>
          <a:ln/>
        </p:spPr>
      </p:sp>
      <p:sp>
        <p:nvSpPr>
          <p:cNvPr id="56" name="Text 54"/>
          <p:cNvSpPr/>
          <p:nvPr/>
        </p:nvSpPr>
        <p:spPr>
          <a:xfrm>
            <a:off x="4736592" y="5559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5138928" y="5431536"/>
            <a:ext cx="2788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boilerplate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8183880" y="5431536"/>
            <a:ext cx="3364992" cy="548640"/>
          </a:xfrm>
          <a:prstGeom prst="roundRect">
            <a:avLst>
              <a:gd name="adj" fmla="val 10000"/>
            </a:avLst>
          </a:prstGeom>
          <a:solidFill>
            <a:srgbClr val="FBF3DF"/>
          </a:solidFill>
          <a:ln w="12700">
            <a:solidFill>
              <a:srgbClr val="EAD9A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48472" y="5559552"/>
            <a:ext cx="292608" cy="292608"/>
          </a:xfrm>
          <a:prstGeom prst="oval">
            <a:avLst/>
          </a:prstGeom>
          <a:solidFill>
            <a:srgbClr val="1A8A5A"/>
          </a:solidFill>
          <a:ln/>
        </p:spPr>
      </p:sp>
      <p:sp>
        <p:nvSpPr>
          <p:cNvPr id="60" name="Text 58"/>
          <p:cNvSpPr/>
          <p:nvPr/>
        </p:nvSpPr>
        <p:spPr>
          <a:xfrm>
            <a:off x="8348472" y="55595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750808" y="5431536"/>
            <a:ext cx="27249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Code-level, contextual fixes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40080" y="6089904"/>
            <a:ext cx="10908792" cy="566928"/>
          </a:xfrm>
          <a:prstGeom prst="roundRect">
            <a:avLst>
              <a:gd name="adj" fmla="val 12903"/>
            </a:avLst>
          </a:prstGeom>
          <a:solidFill>
            <a:srgbClr val="0A2540"/>
          </a:solidFill>
          <a:ln/>
        </p:spPr>
      </p:sp>
      <p:sp>
        <p:nvSpPr>
          <p:cNvPr id="63" name="Text 61"/>
          <p:cNvSpPr/>
          <p:nvPr/>
        </p:nvSpPr>
        <p:spPr>
          <a:xfrm>
            <a:off x="914400" y="6089904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together: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scanners give breadth &amp; regression; Claude adds depth, logic and chaining — driving Burp to validate every finding.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Results: 13 Findings, Minutes Not Days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5214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agentic run against SkyHaven surfaced issues across five OWASP Top 10 categories — each with evidence and a fix.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13055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8986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findings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9659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213055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429000" y="28986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(RCE + SQLi)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73075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9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31520" y="44988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categories hit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37560" y="35661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sx="100000" sy="100000" kx="0" ky="0" algn="bl" rotWithShape="0" blurRad="127000" dist="38100" dir="5400000">
              <a:srgbClr val="0A254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0" y="3730752"/>
            <a:ext cx="2423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8A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~90%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429000" y="4498848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time saved</a:t>
            </a:r>
            <a:endParaRPr lang="en-US" sz="11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172200" y="1874520"/>
          <a:ext cx="28803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918972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highlights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89720" y="237744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19" name="Text 16"/>
          <p:cNvSpPr/>
          <p:nvPr/>
        </p:nvSpPr>
        <p:spPr>
          <a:xfrm>
            <a:off x="9189720" y="237744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9921240" y="235915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command injection → RCE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9189720" y="286207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22" name="Text 19"/>
          <p:cNvSpPr/>
          <p:nvPr/>
        </p:nvSpPr>
        <p:spPr>
          <a:xfrm>
            <a:off x="9189720" y="286207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9921240" y="284378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 auth bypass (login)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9189720" y="3346704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D64545"/>
          </a:solidFill>
          <a:ln/>
        </p:spPr>
      </p:sp>
      <p:sp>
        <p:nvSpPr>
          <p:cNvPr id="25" name="Text 22"/>
          <p:cNvSpPr/>
          <p:nvPr/>
        </p:nvSpPr>
        <p:spPr>
          <a:xfrm>
            <a:off x="9189720" y="334670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9921240" y="3328416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SQLi data exfiltration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189720" y="3831336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873B"/>
          </a:solidFill>
          <a:ln/>
        </p:spPr>
      </p:sp>
      <p:sp>
        <p:nvSpPr>
          <p:cNvPr id="28" name="Text 25"/>
          <p:cNvSpPr/>
          <p:nvPr/>
        </p:nvSpPr>
        <p:spPr>
          <a:xfrm>
            <a:off x="9189720" y="383133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9921240" y="381304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Forgeable session → admin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9189720" y="431596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873B"/>
          </a:solidFill>
          <a:ln/>
        </p:spPr>
      </p:sp>
      <p:sp>
        <p:nvSpPr>
          <p:cNvPr id="31" name="Text 28"/>
          <p:cNvSpPr/>
          <p:nvPr/>
        </p:nvSpPr>
        <p:spPr>
          <a:xfrm>
            <a:off x="9189720" y="431596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9921240" y="42976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on bookings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9189720" y="480060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873B"/>
          </a:solidFill>
          <a:ln/>
        </p:spPr>
      </p:sp>
      <p:sp>
        <p:nvSpPr>
          <p:cNvPr id="34" name="Text 31"/>
          <p:cNvSpPr/>
          <p:nvPr/>
        </p:nvSpPr>
        <p:spPr>
          <a:xfrm>
            <a:off x="9189720" y="480060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921240" y="4782312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creds via open API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9189720" y="528523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6B34D"/>
          </a:solidFill>
          <a:ln/>
        </p:spPr>
      </p:sp>
      <p:sp>
        <p:nvSpPr>
          <p:cNvPr id="37" name="Text 34"/>
          <p:cNvSpPr/>
          <p:nvPr/>
        </p:nvSpPr>
        <p:spPr>
          <a:xfrm>
            <a:off x="9189720" y="528523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9921240" y="526694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19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Reflected &amp; stored XSS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640080" y="580644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0A2540"/>
          </a:solidFill>
          <a:ln/>
        </p:spPr>
      </p:sp>
      <p:sp>
        <p:nvSpPr>
          <p:cNvPr id="40" name="Text 37"/>
          <p:cNvSpPr/>
          <p:nvPr/>
        </p:nvSpPr>
        <p:spPr>
          <a:xfrm>
            <a:off x="914400" y="5806440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B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compresses a multi-day web pentest into a guided, evidence-backed run — consistent, repeatable, and reportable in one sitting.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640080" y="6510528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Balaji Pedapolu  ·  SkyHaven Airways Security Assessment  · 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2026-07-24T07:05:36Z</dcterms:created>
  <dcterms:modified xsi:type="dcterms:W3CDTF">2026-07-24T07:05:36Z</dcterms:modified>
</cp:coreProperties>
</file>